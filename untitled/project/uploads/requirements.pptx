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01930"/>
            <a:ext cx="10968990" cy="6656070"/>
          </a:xfrm>
        </p:spPr>
        <p:txBody>
          <a:bodyPr>
            <a:noAutofit/>
          </a:bodyPr>
          <a:p>
            <a:r>
              <a:rPr lang="zh-CN" altLang="en-US" sz="1400">
                <a:sym typeface="+mn-ea"/>
              </a:rPr>
              <a:t>总需求：</a:t>
            </a:r>
            <a:br>
              <a:rPr lang="zh-CN" altLang="en-US" sz="1400">
                <a:sym typeface="+mn-ea"/>
              </a:rPr>
            </a:br>
            <a:r>
              <a:rPr lang="en-US" altLang="zh-CN" sz="1400">
                <a:sym typeface="+mn-ea"/>
              </a:rPr>
              <a:t>*</a:t>
            </a:r>
            <a:r>
              <a:rPr lang="zh-CN" altLang="en-US" sz="1400">
                <a:sym typeface="+mn-ea"/>
              </a:rPr>
              <a:t>做个数据可视化大屏前端设计，提交的成果是“</a:t>
            </a:r>
            <a:r>
              <a:rPr lang="en-US" altLang="zh-CN" sz="1400">
                <a:sym typeface="+mn-ea"/>
              </a:rPr>
              <a:t>Figma </a:t>
            </a:r>
            <a:r>
              <a:rPr lang="zh-CN" altLang="en-US" sz="1400">
                <a:sym typeface="+mn-ea"/>
              </a:rPr>
              <a:t>友好稿”，可以导入 </a:t>
            </a:r>
            <a:r>
              <a:rPr lang="en-US" altLang="zh-CN" sz="1400">
                <a:sym typeface="+mn-ea"/>
              </a:rPr>
              <a:t>Figma</a:t>
            </a:r>
            <a:r>
              <a:rPr lang="zh-CN" altLang="en-US" sz="1400">
                <a:sym typeface="+mn-ea"/>
              </a:rPr>
              <a:t>进行修改的。</a:t>
            </a:r>
            <a:br>
              <a:rPr lang="zh-CN" altLang="en-US" sz="1400">
                <a:sym typeface="+mn-ea"/>
              </a:rPr>
            </a:br>
            <a:br>
              <a:rPr lang="zh-CN" altLang="en-US" sz="1400">
                <a:sym typeface="+mn-ea"/>
              </a:rPr>
            </a:br>
            <a:r>
              <a:rPr lang="en-US" altLang="zh-CN" sz="1400">
                <a:sym typeface="+mn-ea"/>
              </a:rPr>
              <a:t>*</a:t>
            </a:r>
            <a:r>
              <a:rPr lang="zh-CN" altLang="en-US" sz="1400">
                <a:sym typeface="+mn-ea"/>
              </a:rPr>
              <a:t>一共</a:t>
            </a:r>
            <a:r>
              <a:rPr lang="en-US" altLang="zh-CN" sz="1400">
                <a:sym typeface="+mn-ea"/>
              </a:rPr>
              <a:t>5</a:t>
            </a:r>
            <a:r>
              <a:rPr lang="zh-CN" altLang="en-US" sz="1400">
                <a:sym typeface="+mn-ea"/>
              </a:rPr>
              <a:t>个独立页面：</a:t>
            </a:r>
            <a:r>
              <a:rPr lang="zh-CN" altLang="en-US" sz="800">
                <a:sym typeface="+mn-ea"/>
              </a:rPr>
              <a:t>1.</a:t>
            </a:r>
            <a:r>
              <a:rPr lang="zh-CN" altLang="en-US" sz="800">
                <a:sym typeface="+mn-ea"/>
              </a:rPr>
              <a:t>基地集群总览页</a:t>
            </a:r>
            <a:r>
              <a:rPr lang="en-US" altLang="zh-CN" sz="800">
                <a:sym typeface="+mn-ea"/>
              </a:rPr>
              <a:t>/2.</a:t>
            </a:r>
            <a:r>
              <a:rPr lang="zh-CN" altLang="en-US" sz="800">
                <a:sym typeface="+mn-ea"/>
              </a:rPr>
              <a:t>北京大学东莞光电研究院光生物应用研发中心</a:t>
            </a:r>
            <a:r>
              <a:rPr lang="en-US" altLang="zh-CN" sz="800">
                <a:sym typeface="+mn-ea"/>
              </a:rPr>
              <a:t>/3.</a:t>
            </a:r>
            <a:r>
              <a:rPr lang="zh-CN" altLang="en-US" sz="800">
                <a:sym typeface="+mn-ea"/>
              </a:rPr>
              <a:t>青岛富士康植物工厂数据中心</a:t>
            </a:r>
            <a:r>
              <a:rPr lang="en-US" altLang="zh-CN" sz="800">
                <a:sym typeface="+mn-ea"/>
              </a:rPr>
              <a:t>/4.</a:t>
            </a:r>
            <a:r>
              <a:rPr lang="zh-CN" altLang="en-US" sz="800">
                <a:sym typeface="+mn-ea"/>
              </a:rPr>
              <a:t>黑龙江北大荒育秧中心</a:t>
            </a:r>
            <a:r>
              <a:rPr lang="en-US" altLang="zh-CN" sz="800">
                <a:sym typeface="+mn-ea"/>
              </a:rPr>
              <a:t>/5.</a:t>
            </a:r>
            <a:r>
              <a:rPr lang="zh-CN" altLang="en-US" sz="800">
                <a:sym typeface="+mn-ea"/>
              </a:rPr>
              <a:t>陕西崔家湾红薯实验中心</a:t>
            </a:r>
            <a:br>
              <a:rPr lang="zh-CN" altLang="en-US" sz="800">
                <a:sym typeface="+mn-ea"/>
              </a:rPr>
            </a:br>
            <a:br>
              <a:rPr lang="zh-CN" altLang="en-US" sz="800">
                <a:sym typeface="+mn-ea"/>
              </a:rPr>
            </a:br>
            <a:r>
              <a:rPr lang="zh-CN" altLang="en-US" sz="1400">
                <a:sym typeface="+mn-ea"/>
              </a:rPr>
              <a:t>*详情页尽量统一模板：</a:t>
            </a:r>
            <a:r>
              <a:rPr lang="zh-CN" altLang="en-US" sz="800">
                <a:sym typeface="+mn-ea"/>
              </a:rPr>
              <a:t>差异通过每个页面的需求调整。</a:t>
            </a:r>
            <a:br>
              <a:rPr lang="zh-CN" altLang="en-US" sz="1600">
                <a:sym typeface="+mn-ea"/>
              </a:rPr>
            </a:br>
            <a:br>
              <a:rPr lang="zh-CN" altLang="en-US" sz="1600">
                <a:sym typeface="+mn-ea"/>
              </a:rPr>
            </a:br>
            <a:r>
              <a:rPr lang="zh-CN" altLang="en-US" sz="1400">
                <a:sym typeface="+mn-ea"/>
              </a:rPr>
              <a:t>*</a:t>
            </a:r>
            <a:r>
              <a:rPr lang="zh-CN" altLang="en-US" sz="1400"/>
              <a:t>总视觉需求：</a:t>
            </a:r>
            <a:br>
              <a:rPr lang="zh-CN" altLang="en-US" sz="1400"/>
            </a:br>
            <a:r>
              <a:rPr lang="zh-CN" altLang="en-US" sz="1400"/>
              <a:t>全页面适配 1920</a:t>
            </a:r>
            <a:r>
              <a:rPr lang="en-US" altLang="zh-CN" sz="1400"/>
              <a:t>x1080 </a:t>
            </a:r>
            <a:r>
              <a:rPr lang="zh-CN" altLang="en-US" sz="1400"/>
              <a:t>大屏，等比缩放</a:t>
            </a:r>
            <a:br>
              <a:rPr lang="zh-CN" altLang="en-US" sz="1400"/>
            </a:br>
            <a:r>
              <a:rPr lang="zh-CN" altLang="en-US" sz="1400"/>
              <a:t>全部中文</a:t>
            </a:r>
            <a:br>
              <a:rPr lang="zh-CN" altLang="en-US" sz="1400"/>
            </a:br>
            <a:r>
              <a:rPr lang="zh-CN" sz="1400"/>
              <a:t>风格：</a:t>
            </a:r>
            <a:r>
              <a:rPr lang="zh-CN" altLang="en-US" sz="1600"/>
              <a:t>风格：现代暗黑模式（</a:t>
            </a:r>
            <a:r>
              <a:rPr lang="en-US" altLang="zh-CN" sz="1600"/>
              <a:t>Modern Dark Mode） B</a:t>
            </a:r>
            <a:r>
              <a:rPr lang="zh-CN" altLang="en-US" sz="1600"/>
              <a:t>端设计作品。融合目前 </a:t>
            </a:r>
            <a:r>
              <a:rPr lang="en-US" altLang="zh-CN" sz="1600"/>
              <a:t>UI </a:t>
            </a:r>
            <a:r>
              <a:rPr lang="zh-CN" altLang="en-US" sz="1600"/>
              <a:t>设计界流行多种趋势，展现出一种既专业又具科技感的“极客”气质。</a:t>
            </a:r>
            <a:br>
              <a:rPr lang="zh-CN" altLang="en-US" sz="2400"/>
            </a:br>
            <a:br>
              <a:rPr lang="zh-CN" altLang="en-US" sz="2400"/>
            </a:br>
            <a:r>
              <a:rPr lang="zh-CN" altLang="en-US" sz="900"/>
              <a:t>风格：现代暗黑模式（</a:t>
            </a:r>
            <a:r>
              <a:rPr lang="en-US" altLang="zh-CN" sz="900"/>
              <a:t>Modern Dark Mode） B</a:t>
            </a:r>
            <a:r>
              <a:rPr lang="zh-CN" altLang="en-US" sz="900"/>
              <a:t>端设计作品。融合目前 </a:t>
            </a:r>
            <a:r>
              <a:rPr lang="en-US" altLang="zh-CN" sz="900"/>
              <a:t>UI </a:t>
            </a:r>
            <a:r>
              <a:rPr lang="zh-CN" altLang="en-US" sz="900"/>
              <a:t>设计界流行多种趋势，展现出一种既专业又具科技感的“极客”气质。</a:t>
            </a:r>
            <a:br>
              <a:rPr lang="zh-CN" altLang="en-US" sz="900"/>
            </a:br>
            <a:r>
              <a:rPr lang="zh-CN" altLang="en-US" sz="900"/>
              <a:t>风格的详细拆解：</a:t>
            </a:r>
            <a:br>
              <a:rPr lang="zh-CN" altLang="en-US" sz="900"/>
            </a:br>
            <a:r>
              <a:rPr lang="zh-CN" altLang="en-US" sz="900"/>
              <a:t>1. 核心设计风格：</a:t>
            </a:r>
            <a:r>
              <a:rPr lang="en-US" altLang="zh-CN" sz="900"/>
              <a:t>Glassmorphism </a:t>
            </a:r>
            <a:r>
              <a:rPr lang="zh-CN" altLang="en-US" sz="900"/>
              <a:t>与 </a:t>
            </a:r>
            <a:r>
              <a:rPr lang="en-US" altLang="zh-CN" sz="900"/>
              <a:t>Bento Grid</a:t>
            </a:r>
            <a:br>
              <a:rPr lang="en-US" altLang="zh-CN" sz="900"/>
            </a:br>
            <a:r>
              <a:rPr lang="zh-CN" altLang="en-US" sz="900"/>
              <a:t>便当盒布局 (</a:t>
            </a:r>
            <a:r>
              <a:rPr lang="en-US" altLang="zh-CN" sz="900"/>
              <a:t>Bento Grid)： </a:t>
            </a:r>
            <a:r>
              <a:rPr lang="zh-CN" altLang="en-US" sz="900"/>
              <a:t>界面采用目前非常流行的“便当盒”式布局，将复杂的数据拆解成互不干扰、边缘圆润的卡片。这种布局方式不仅视觉整洁，且具有天然的响应式优势。</a:t>
            </a:r>
            <a:br>
              <a:rPr lang="zh-CN" altLang="en-US" sz="900"/>
            </a:br>
            <a:r>
              <a:rPr lang="zh-CN" altLang="en-US" sz="900"/>
              <a:t>玻璃拟态 (</a:t>
            </a:r>
            <a:r>
              <a:rPr lang="en-US" altLang="zh-CN" sz="900"/>
              <a:t>Glassmorphism)： </a:t>
            </a:r>
            <a:r>
              <a:rPr lang="zh-CN" altLang="en-US" sz="900"/>
              <a:t>背景采用了深灰色的毛玻璃效果。通过极细的浅色边框（</a:t>
            </a:r>
            <a:r>
              <a:rPr lang="en-US" altLang="zh-CN" sz="900"/>
              <a:t>Stroke）</a:t>
            </a:r>
            <a:r>
              <a:rPr lang="zh-CN" altLang="en-US" sz="900"/>
              <a:t>和深浅交替的阴影，营造出一种卡片悬浮在背景之上的层级感，避免了全黑界面的沉闷。</a:t>
            </a:r>
            <a:br>
              <a:rPr lang="zh-CN" altLang="en-US" sz="900"/>
            </a:br>
            <a:r>
              <a:rPr lang="zh-CN" altLang="en-US" sz="900"/>
              <a:t>2. 配色方案：高对比度荧光色系</a:t>
            </a:r>
            <a:br>
              <a:rPr lang="zh-CN" altLang="en-US" sz="900"/>
            </a:br>
            <a:r>
              <a:rPr lang="zh-CN" altLang="en-US" sz="900"/>
              <a:t>冷调暗背景： 基础背景并非纯黑，而是带有低饱和度蓝紫调的深灰色（#121212 左右），这能有效缓解视觉疲劳并提升对比度。</a:t>
            </a:r>
            <a:br>
              <a:rPr lang="zh-CN" altLang="en-US" sz="900"/>
            </a:br>
            <a:r>
              <a:rPr lang="zh-CN" altLang="en-US" sz="900"/>
              <a:t>荧光点缀色： 选用了薄荷绿、淡紫色、天蓝色作为核心数据色。这些颜色在暗色背景下具有极高的亮度，能够瞬间抓住用户的注意力。</a:t>
            </a:r>
            <a:br>
              <a:rPr lang="zh-CN" altLang="en-US" sz="900"/>
            </a:br>
            <a:r>
              <a:rPr lang="zh-CN" altLang="en-US" sz="900"/>
              <a:t>状态暗示： 虽然是彩色，但依然遵循了功能性逻辑（如涨跌幅的红绿箭头），不过饱和度经过调优，使其与整体的高级灰调相融合。</a:t>
            </a:r>
            <a:br>
              <a:rPr lang="zh-CN" altLang="en-US" sz="900"/>
            </a:br>
            <a:r>
              <a:rPr lang="zh-CN" altLang="en-US" sz="900"/>
              <a:t>3. 数据可视化特征：非传统图形的应用</a:t>
            </a:r>
            <a:br>
              <a:rPr lang="zh-CN" altLang="en-US" sz="900"/>
            </a:br>
            <a:r>
              <a:rPr lang="zh-CN" altLang="en-US" sz="900"/>
              <a:t>4. 字体与细节处理</a:t>
            </a:r>
            <a:br>
              <a:rPr lang="zh-CN" altLang="en-US" sz="900"/>
            </a:br>
            <a:r>
              <a:rPr lang="zh-CN" altLang="en-US" sz="900"/>
              <a:t>无衬线字体 (</a:t>
            </a:r>
            <a:r>
              <a:rPr lang="en-US" altLang="zh-CN" sz="900"/>
              <a:t>Sans-serif)： </a:t>
            </a:r>
            <a:r>
              <a:rPr lang="zh-CN" altLang="en-US" sz="900"/>
              <a:t>使用了典型的现代几何体（如 </a:t>
            </a:r>
            <a:r>
              <a:rPr lang="en-US" altLang="zh-CN" sz="900"/>
              <a:t>Inter </a:t>
            </a:r>
            <a:r>
              <a:rPr lang="zh-CN" altLang="en-US" sz="900"/>
              <a:t>或 </a:t>
            </a:r>
            <a:r>
              <a:rPr lang="en-US" altLang="zh-CN" sz="900"/>
              <a:t>Gilroy </a:t>
            </a:r>
            <a:r>
              <a:rPr lang="zh-CN" altLang="en-US" sz="900"/>
              <a:t>类字体）。字重（</a:t>
            </a:r>
            <a:r>
              <a:rPr lang="en-US" altLang="zh-CN" sz="900"/>
              <a:t>Weight）</a:t>
            </a:r>
            <a:r>
              <a:rPr lang="zh-CN" altLang="en-US" sz="900"/>
              <a:t>分布明确，数字大而醒目，次要标签细而清晰，保证了极高的信息检索效率。</a:t>
            </a:r>
            <a:br>
              <a:rPr lang="zh-CN" altLang="en-US" sz="900"/>
            </a:br>
            <a:r>
              <a:rPr lang="zh-CN" altLang="en-US" sz="900"/>
              <a:t>精致的图标与元素：所有</a:t>
            </a:r>
            <a:r>
              <a:rPr lang="en-US" altLang="zh-CN" sz="900"/>
              <a:t>icon</a:t>
            </a:r>
            <a:r>
              <a:rPr lang="zh-CN" altLang="en-US" sz="900"/>
              <a:t>图标统一采用线描与填充结合的风格，并带有微弱的发光/阴影效果。</a:t>
            </a:r>
            <a:br>
              <a:rPr lang="zh-CN" altLang="en-US" sz="900"/>
            </a:br>
            <a:r>
              <a:rPr lang="zh-CN" altLang="en-US" sz="900"/>
              <a:t>5. 情绪表达：专业、前卫、值得信赖</a:t>
            </a:r>
            <a:br>
              <a:rPr lang="zh-CN" altLang="en-US" sz="900"/>
            </a:br>
            <a:r>
              <a:rPr lang="zh-CN" altLang="en-US" sz="900"/>
              <a:t>风格定义为 "</a:t>
            </a:r>
            <a:r>
              <a:rPr lang="en-US" altLang="zh-CN" sz="900"/>
              <a:t>Professional Creative"（</a:t>
            </a:r>
            <a:r>
              <a:rPr lang="zh-CN" altLang="en-US" sz="900"/>
              <a:t>专业创意感）。</a:t>
            </a:r>
            <a:br>
              <a:rPr lang="zh-CN" altLang="en-US" sz="900"/>
            </a:br>
            <a:r>
              <a:rPr lang="zh-CN" altLang="en-US" sz="900"/>
              <a:t>通过大圆角（</a:t>
            </a:r>
            <a:r>
              <a:rPr lang="en-US" altLang="zh-CN" sz="900"/>
              <a:t>Border Radius）</a:t>
            </a:r>
            <a:r>
              <a:rPr lang="zh-CN" altLang="en-US" sz="900"/>
              <a:t>和柔和的色彩渐变，消解数据的冰冷感，使其看起来更像是一个“智能决策助手”。</a:t>
            </a:r>
            <a:br>
              <a:rPr lang="zh-CN" altLang="en-US" sz="900"/>
            </a:br>
            <a:r>
              <a:rPr lang="zh-CN" altLang="en-US" sz="900"/>
              <a:t>总结：</a:t>
            </a:r>
            <a:br>
              <a:rPr lang="zh-CN" altLang="en-US" sz="900"/>
            </a:br>
            <a:r>
              <a:rPr lang="zh-CN" altLang="en-US" sz="900"/>
              <a:t>这是一个高水平的 </a:t>
            </a:r>
            <a:r>
              <a:rPr lang="en-US" altLang="zh-CN" sz="900"/>
              <a:t>Dashboard UI </a:t>
            </a:r>
            <a:r>
              <a:rPr lang="zh-CN" altLang="en-US" sz="900"/>
              <a:t>设计。成功地利用了暗黑模式、便当盒布局、荧光配色和复杂的图表组件，打造出了一个既符合极客审美，又不失商业严谨性的数据分析工具。对于追求“轻量化”和“呼吸感”设计来说，负空间处理和色彩通透度要注意处理好。</a:t>
            </a:r>
            <a:br>
              <a:rPr lang="en-US" altLang="zh-CN" sz="2400"/>
            </a:br>
            <a:endParaRPr lang="zh-CN" alt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17920" y="392430"/>
            <a:ext cx="4785995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>
                <a:sym typeface="+mn-ea"/>
              </a:rPr>
              <a:t>植物工厂数据管理中心</a:t>
            </a:r>
            <a:endParaRPr lang="zh-CN" altLang="en-US" sz="3200"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217285" y="2143760"/>
            <a:ext cx="4856480" cy="4095750"/>
            <a:chOff x="3236" y="3376"/>
            <a:chExt cx="14203" cy="6450"/>
          </a:xfrm>
        </p:grpSpPr>
        <p:sp>
          <p:nvSpPr>
            <p:cNvPr id="6" name="矩形 5"/>
            <p:cNvSpPr/>
            <p:nvPr/>
          </p:nvSpPr>
          <p:spPr>
            <a:xfrm>
              <a:off x="3236" y="3376"/>
              <a:ext cx="6909" cy="2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401" y="3890"/>
              <a:ext cx="6523" cy="19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000"/>
                <a:t>北京大学东莞光电研究院光生物应用研发中心</a:t>
              </a:r>
              <a:endParaRPr lang="zh-CN" altLang="en-US" sz="2000"/>
            </a:p>
          </p:txBody>
        </p:sp>
        <p:sp>
          <p:nvSpPr>
            <p:cNvPr id="8" name="矩形 7"/>
            <p:cNvSpPr/>
            <p:nvPr/>
          </p:nvSpPr>
          <p:spPr>
            <a:xfrm>
              <a:off x="10531" y="3376"/>
              <a:ext cx="6909" cy="2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696" y="3890"/>
              <a:ext cx="6523" cy="19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000"/>
                <a:t>青岛富士康植物工厂数据中心</a:t>
              </a:r>
              <a:endParaRPr lang="zh-CN" altLang="en-US" sz="2000"/>
            </a:p>
          </p:txBody>
        </p:sp>
        <p:sp>
          <p:nvSpPr>
            <p:cNvPr id="10" name="矩形 9"/>
            <p:cNvSpPr/>
            <p:nvPr/>
          </p:nvSpPr>
          <p:spPr>
            <a:xfrm>
              <a:off x="3236" y="6892"/>
              <a:ext cx="6909" cy="2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401" y="7406"/>
              <a:ext cx="6523" cy="19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000"/>
                <a:t>黑龙江北大荒育秧中心</a:t>
              </a:r>
              <a:endParaRPr lang="zh-CN" altLang="en-US" sz="20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531" y="6892"/>
              <a:ext cx="6909" cy="29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696" y="7406"/>
              <a:ext cx="6523" cy="19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2000"/>
                <a:t>陕西崔家湾红薯实验中心</a:t>
              </a:r>
              <a:endParaRPr lang="zh-CN" altLang="en-US" sz="200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7038023" y="1268095"/>
            <a:ext cx="314579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/>
              <a:t>基地集群总览</a:t>
            </a:r>
            <a:endParaRPr lang="zh-CN" altLang="en-US" sz="3200"/>
          </a:p>
        </p:txBody>
      </p:sp>
      <p:sp>
        <p:nvSpPr>
          <p:cNvPr id="15" name="文本框 14"/>
          <p:cNvSpPr txBox="1"/>
          <p:nvPr/>
        </p:nvSpPr>
        <p:spPr>
          <a:xfrm>
            <a:off x="423545" y="392430"/>
            <a:ext cx="262255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页面</a:t>
            </a:r>
            <a:r>
              <a:rPr lang="en-US" altLang="zh-CN" sz="3200">
                <a:sym typeface="+mn-ea"/>
              </a:rPr>
              <a:t>1</a:t>
            </a:r>
            <a:r>
              <a:rPr lang="zh-CN" altLang="en-US" sz="3200">
                <a:sym typeface="+mn-ea"/>
              </a:rPr>
              <a:t>需求：</a:t>
            </a:r>
            <a:endParaRPr lang="zh-CN" altLang="en-US" sz="3200"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503420" y="647700"/>
            <a:ext cx="0" cy="581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23545" y="2675255"/>
            <a:ext cx="3816985" cy="2027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ym typeface="+mn-ea"/>
              </a:rPr>
              <a:t>模块 1：</a:t>
            </a:r>
            <a:r>
              <a:rPr lang="zh-CN" altLang="en-US">
                <a:sym typeface="+mn-ea"/>
              </a:rPr>
              <a:t>基地集群总览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基地入口卡片</a:t>
            </a:r>
            <a:endParaRPr lang="zh-CN" altLang="en-US" sz="1400">
              <a:sym typeface="+mn-ea"/>
            </a:endParaRPr>
          </a:p>
          <a:p>
            <a:endParaRPr lang="en-US" altLang="zh-CN" sz="140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200">
                <a:sym typeface="+mn-ea"/>
              </a:rPr>
              <a:t>北京大学东莞光电研究院光生物应用研发中心</a:t>
            </a:r>
            <a:endParaRPr lang="zh-CN" altLang="en-US" sz="120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200">
                <a:sym typeface="+mn-ea"/>
              </a:rPr>
              <a:t>青岛富士康植物工厂数据中心</a:t>
            </a:r>
            <a:endParaRPr lang="zh-CN" altLang="en-US" sz="120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200">
                <a:sym typeface="+mn-ea"/>
              </a:rPr>
              <a:t>黑龙江北大荒育秧中心</a:t>
            </a:r>
            <a:endParaRPr lang="zh-CN" altLang="en-US" sz="120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200">
                <a:sym typeface="+mn-ea"/>
              </a:rPr>
              <a:t>陕西崔家湾红薯实验中心</a:t>
            </a:r>
            <a:endParaRPr lang="zh-CN" altLang="en-US" sz="1200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23545" y="1342390"/>
            <a:ext cx="3816985" cy="801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页面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组件</a:t>
            </a:r>
            <a:endParaRPr lang="zh-CN" altLang="en-US" sz="1600" b="1">
              <a:sym typeface="+mn-ea"/>
            </a:endParaRPr>
          </a:p>
          <a:p>
            <a:r>
              <a:rPr lang="zh-CN" altLang="en-US" sz="1000">
                <a:sym typeface="+mn-ea"/>
              </a:rPr>
              <a:t>左侧：</a:t>
            </a:r>
            <a:r>
              <a:rPr lang="en-US" altLang="zh-CN" sz="1000">
                <a:sym typeface="+mn-ea"/>
              </a:rPr>
              <a:t>AFAFA  Logo</a:t>
            </a:r>
            <a:r>
              <a:rPr lang="en-US" sz="1000">
                <a:sym typeface="+mn-ea"/>
              </a:rPr>
              <a:t>(</a:t>
            </a:r>
            <a:r>
              <a:rPr lang="en-US" altLang="zh-CN" sz="1000">
                <a:sym typeface="+mn-ea"/>
              </a:rPr>
              <a:t>AFAFA_logo  svg</a:t>
            </a:r>
            <a:r>
              <a:rPr lang="zh-CN" altLang="en-US" sz="1000">
                <a:sym typeface="+mn-ea"/>
              </a:rPr>
              <a:t>文件</a:t>
            </a:r>
            <a:r>
              <a:rPr lang="en-US" sz="1000">
                <a:sym typeface="+mn-ea"/>
              </a:rPr>
              <a:t>)</a:t>
            </a:r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中侧：页面标题（植物工厂数据管理中心）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右侧：实时时间显示（格式：</a:t>
            </a:r>
            <a:r>
              <a:rPr lang="en-US" altLang="zh-CN" sz="1000">
                <a:sym typeface="+mn-ea"/>
              </a:rPr>
              <a:t>YYYY-MM-DD HH:mm:ss </a:t>
            </a:r>
            <a:r>
              <a:rPr lang="zh-CN" altLang="en-US" sz="1000">
                <a:sym typeface="+mn-ea"/>
              </a:rPr>
              <a:t>星期</a:t>
            </a:r>
            <a:r>
              <a:rPr lang="en-US" altLang="zh-CN" sz="1000">
                <a:sym typeface="+mn-ea"/>
              </a:rPr>
              <a:t>X）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423545" y="392430"/>
            <a:ext cx="262255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页面</a:t>
            </a:r>
            <a:r>
              <a:rPr lang="en-US" altLang="zh-CN" sz="3200">
                <a:sym typeface="+mn-ea"/>
              </a:rPr>
              <a:t>2</a:t>
            </a:r>
            <a:r>
              <a:rPr lang="zh-CN" altLang="en-US" sz="3200">
                <a:sym typeface="+mn-ea"/>
              </a:rPr>
              <a:t>需求：</a:t>
            </a:r>
            <a:endParaRPr lang="zh-CN" altLang="en-US" sz="3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2539365"/>
            <a:ext cx="4445635" cy="4318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主体布局</a:t>
            </a:r>
            <a:endParaRPr lang="zh-CN" altLang="en-US" sz="1600" b="1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1：生产与订单管理</a:t>
            </a:r>
            <a:endParaRPr lang="zh-CN" altLang="en-US" sz="1000" b="1">
              <a:sym typeface="+mn-ea"/>
            </a:endParaRPr>
          </a:p>
          <a:p>
            <a:r>
              <a:rPr lang="zh-CN" altLang="en-US" sz="1000">
                <a:sym typeface="+mn-ea"/>
              </a:rPr>
              <a:t>分为两个子区域（垂直种植区与集装箱种植区 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两个子区域都需展示的内容：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种植库位占比</a:t>
            </a:r>
            <a:r>
              <a:rPr lang="en-US" altLang="zh-CN" sz="1000">
                <a:sym typeface="+mn-ea"/>
              </a:rPr>
              <a:t>（</a:t>
            </a:r>
            <a:r>
              <a:rPr lang="zh-CN" altLang="en-US" sz="1000">
                <a:sym typeface="+mn-ea"/>
              </a:rPr>
              <a:t>例：220个 / 312个）及库位占有率（例：80%）带有进度条 。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今日产量对比：</a:t>
            </a:r>
            <a:r>
              <a:rPr lang="zh-CN" altLang="en-US" sz="1000">
                <a:sym typeface="+mn-ea"/>
              </a:rPr>
              <a:t>展示“预计产量”、“实际产出量”、</a:t>
            </a:r>
            <a:r>
              <a:rPr lang="en-US" altLang="zh-CN" sz="1000">
                <a:sym typeface="+mn-ea"/>
              </a:rPr>
              <a:t>“</a:t>
            </a:r>
            <a:r>
              <a:rPr lang="zh-CN" altLang="en-US" sz="1000">
                <a:sym typeface="+mn-ea"/>
              </a:rPr>
              <a:t>产出批次</a:t>
            </a:r>
            <a:r>
              <a:rPr lang="en-US" altLang="zh-CN" sz="1000">
                <a:sym typeface="+mn-ea"/>
              </a:rPr>
              <a:t>”</a:t>
            </a:r>
            <a:r>
              <a:rPr lang="zh-CN" altLang="en-US" sz="1000">
                <a:sym typeface="+mn-ea"/>
              </a:rPr>
              <a:t>（如：</a:t>
            </a:r>
            <a:r>
              <a:rPr lang="zh-CN" altLang="en-US" sz="1000">
                <a:sym typeface="+mn-ea"/>
              </a:rPr>
              <a:t>预计产量</a:t>
            </a:r>
            <a:r>
              <a:rPr lang="zh-CN" altLang="en-US" sz="1000">
                <a:sym typeface="+mn-ea"/>
              </a:rPr>
              <a:t>160 </a:t>
            </a:r>
            <a:r>
              <a:rPr lang="en-US" altLang="zh-CN" sz="1000">
                <a:sym typeface="+mn-ea"/>
              </a:rPr>
              <a:t>kg</a:t>
            </a:r>
            <a:r>
              <a:rPr lang="zh-CN" altLang="en-US" sz="1000">
                <a:sym typeface="+mn-ea"/>
              </a:rPr>
              <a:t>、</a:t>
            </a:r>
            <a:r>
              <a:rPr lang="zh-CN" altLang="en-US" sz="1000">
                <a:sym typeface="+mn-ea"/>
              </a:rPr>
              <a:t>实际产量</a:t>
            </a:r>
            <a:r>
              <a:rPr lang="en-US" altLang="zh-CN" sz="1000">
                <a:sym typeface="+mn-ea"/>
              </a:rPr>
              <a:t>156 kg</a:t>
            </a:r>
            <a:r>
              <a:rPr lang="zh-CN" altLang="en-US" sz="1000">
                <a:sym typeface="+mn-ea"/>
              </a:rPr>
              <a:t>、产出批次</a:t>
            </a:r>
            <a:r>
              <a:rPr lang="en-US" altLang="zh-CN" sz="1000">
                <a:sym typeface="+mn-ea"/>
              </a:rPr>
              <a:t>12</a:t>
            </a:r>
            <a:r>
              <a:rPr lang="zh-CN" altLang="en-US" sz="1000">
                <a:sym typeface="+mn-ea"/>
              </a:rPr>
              <a:t>批</a:t>
            </a:r>
            <a:r>
              <a:rPr lang="en-US" altLang="zh-CN" sz="1000">
                <a:sym typeface="+mn-ea"/>
              </a:rPr>
              <a:t>）</a:t>
            </a:r>
            <a:r>
              <a:rPr lang="zh-CN" altLang="en-US" sz="1000">
                <a:sym typeface="+mn-ea"/>
              </a:rPr>
              <a:t>、</a:t>
            </a:r>
            <a:r>
              <a:rPr lang="zh-CN" altLang="en-US" sz="1000">
                <a:sym typeface="+mn-ea"/>
              </a:rPr>
              <a:t>环形图展示“合格率”（如 98.2%） 。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排行榜组件：</a:t>
            </a:r>
            <a:r>
              <a:rPr lang="zh-CN" altLang="en-US" sz="1000">
                <a:sym typeface="+mn-ea"/>
              </a:rPr>
              <a:t>品种产出量 </a:t>
            </a:r>
            <a:r>
              <a:rPr lang="en-US" altLang="zh-CN" sz="1000">
                <a:sym typeface="+mn-ea"/>
              </a:rPr>
              <a:t>TOP10。</a:t>
            </a:r>
            <a:r>
              <a:rPr lang="zh-CN" altLang="en-US" sz="1000">
                <a:sym typeface="+mn-ea"/>
              </a:rPr>
              <a:t>建议使用 </a:t>
            </a:r>
            <a:r>
              <a:rPr lang="en-US" altLang="zh-CN" sz="1000">
                <a:sym typeface="+mn-ea"/>
              </a:rPr>
              <a:t>ECharts </a:t>
            </a:r>
            <a:r>
              <a:rPr lang="zh-CN" altLang="en-US" sz="1000">
                <a:sym typeface="+mn-ea"/>
              </a:rPr>
              <a:t>横向或纵向柱状图，需包含具体品种名称（奶油生菜、翠叶绿、羽衣甘蓝、小菠菜、薄荷、芽苗菜、乌塌菜、萝卜苗、西蓝花苗等）及对应数值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种植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设备运行效率统计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分为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个子区域（</a:t>
            </a:r>
            <a:r>
              <a:rPr lang="zh-CN" altLang="en-US" sz="1000" b="1">
                <a:sym typeface="+mn-ea"/>
              </a:rPr>
              <a:t>数据表格组件按</a:t>
            </a:r>
            <a:r>
              <a:rPr lang="zh-CN" altLang="en-US" sz="1000">
                <a:sym typeface="+mn-ea"/>
              </a:rPr>
              <a:t>垂直种植区</a:t>
            </a:r>
            <a:r>
              <a:rPr lang="en-US" altLang="zh-CN" sz="1000">
                <a:sym typeface="+mn-ea"/>
              </a:rPr>
              <a:t>/</a:t>
            </a:r>
            <a:r>
              <a:rPr lang="zh-CN" altLang="en-US" sz="1000">
                <a:sym typeface="+mn-ea"/>
              </a:rPr>
              <a:t>集装箱种植区轮播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数据表格组件 (</a:t>
            </a:r>
            <a:r>
              <a:rPr lang="en-US" altLang="zh-CN" sz="1000" b="1">
                <a:sym typeface="+mn-ea"/>
              </a:rPr>
              <a:t>Data Table)：</a:t>
            </a:r>
            <a:endParaRPr lang="en-US" altLang="zh-CN" sz="1000" b="1">
              <a:sym typeface="+mn-ea"/>
            </a:endParaRPr>
          </a:p>
          <a:p>
            <a:r>
              <a:rPr lang="en-US" altLang="zh-CN" sz="1000">
                <a:sym typeface="+mn-ea"/>
              </a:rPr>
              <a:t>1.</a:t>
            </a:r>
            <a:r>
              <a:rPr lang="zh-CN" altLang="en-US" sz="1000">
                <a:sym typeface="+mn-ea"/>
              </a:rPr>
              <a:t>列定义：设备名称 (带小图标，如 </a:t>
            </a:r>
            <a:r>
              <a:rPr lang="en-US" altLang="zh-CN" sz="1000">
                <a:sym typeface="+mn-ea"/>
              </a:rPr>
              <a:t>AGV</a:t>
            </a:r>
            <a:r>
              <a:rPr lang="zh-CN" altLang="en-US" sz="1000">
                <a:sym typeface="+mn-ea"/>
              </a:rPr>
              <a:t>搬运车、加液机、配肥机、播种机、动力组)、运行次数 (次/天 或 筐/小时)、运行效率 (%)、故障时间、故障时长 。</a:t>
            </a:r>
            <a:endParaRPr lang="zh-CN" altLang="en-US" sz="1000">
              <a:sym typeface="+mn-ea"/>
            </a:endParaRPr>
          </a:p>
          <a:p>
            <a:r>
              <a:rPr lang="en-US" altLang="zh-CN" sz="1000">
                <a:sym typeface="+mn-ea"/>
              </a:rPr>
              <a:t>2.</a:t>
            </a:r>
            <a:r>
              <a:rPr lang="zh-CN" altLang="en-US" sz="1000">
                <a:sym typeface="+mn-ea"/>
              </a:rPr>
              <a:t>需支持状态颜色标记（如高效率显示为绿色，存在故障时长显示为预警色）。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545" y="1344930"/>
            <a:ext cx="3874770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页面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组件</a:t>
            </a:r>
            <a:endParaRPr lang="zh-CN" altLang="en-US" sz="1600" b="1">
              <a:sym typeface="+mn-ea"/>
            </a:endParaRPr>
          </a:p>
          <a:p>
            <a:r>
              <a:rPr lang="zh-CN" altLang="en-US" sz="1000">
                <a:sym typeface="+mn-ea"/>
              </a:rPr>
              <a:t>左侧：</a:t>
            </a:r>
            <a:r>
              <a:rPr lang="en-US" altLang="zh-CN" sz="1000">
                <a:sym typeface="+mn-ea"/>
              </a:rPr>
              <a:t>AFAFA  Logo</a:t>
            </a:r>
            <a:r>
              <a:rPr lang="en-US" sz="1000">
                <a:sym typeface="+mn-ea"/>
              </a:rPr>
              <a:t>(</a:t>
            </a:r>
            <a:r>
              <a:rPr lang="en-US" altLang="zh-CN" sz="1000">
                <a:sym typeface="+mn-ea"/>
              </a:rPr>
              <a:t>AFAFA_logo  svg</a:t>
            </a:r>
            <a:r>
              <a:rPr lang="zh-CN" altLang="en-US" sz="1000">
                <a:sym typeface="+mn-ea"/>
              </a:rPr>
              <a:t>文件</a:t>
            </a:r>
            <a:r>
              <a:rPr lang="en-US" sz="1000">
                <a:sym typeface="+mn-ea"/>
              </a:rPr>
              <a:t>)</a:t>
            </a:r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中侧：页面标题（北京大学东莞光电研究院光生物应用研发中心）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右侧：实时时间显示（格式：</a:t>
            </a:r>
            <a:r>
              <a:rPr lang="en-US" altLang="zh-CN" sz="1000">
                <a:sym typeface="+mn-ea"/>
              </a:rPr>
              <a:t>YYYY-MM-DD HH:mm:ss </a:t>
            </a:r>
            <a:r>
              <a:rPr lang="zh-CN" altLang="en-US" sz="1000">
                <a:sym typeface="+mn-ea"/>
              </a:rPr>
              <a:t>星期</a:t>
            </a:r>
            <a:r>
              <a:rPr lang="en-US" altLang="zh-CN" sz="1000">
                <a:sym typeface="+mn-ea"/>
              </a:rPr>
              <a:t>X）</a:t>
            </a:r>
            <a:r>
              <a:rPr lang="zh-CN" altLang="en-US" sz="1000">
                <a:sym typeface="+mn-ea"/>
              </a:rPr>
              <a:t>及基地切换下拉菜单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0895" y="2996565"/>
            <a:ext cx="4445635" cy="3675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环境数据监控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分为三个子区域（垂直种植区 、集装箱种植区 、育苗区 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三个子区域都需展示的字段图标及数值：温度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线上监控视频画面：</a:t>
            </a:r>
            <a:r>
              <a:rPr lang="zh-CN" altLang="en-US" sz="1000">
                <a:sym typeface="+mn-ea"/>
              </a:rPr>
              <a:t>2 个实景监控画面的轮播展示区域 。</a:t>
            </a:r>
            <a:endParaRPr lang="zh-CN" altLang="en-US" sz="1000"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4：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经济性指标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分为三个子区域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能耗细分：</a:t>
            </a:r>
            <a:r>
              <a:rPr lang="zh-CN" altLang="en-US" sz="1000">
                <a:sym typeface="+mn-ea"/>
              </a:rPr>
              <a:t>列表展示：补光电能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环控电能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总耗电量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太阳能发电（预估）：</a:t>
            </a:r>
            <a:r>
              <a:rPr lang="en-US" altLang="zh-CN" sz="1000">
                <a:sym typeface="+mn-ea"/>
              </a:rPr>
              <a:t>140,00kWh/</a:t>
            </a:r>
            <a:r>
              <a:rPr lang="zh-CN" altLang="en-US" sz="1000">
                <a:sym typeface="+mn-ea"/>
              </a:rPr>
              <a:t>年</a:t>
            </a:r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气体代谢</a:t>
            </a:r>
            <a:r>
              <a:rPr lang="en-US" altLang="zh-CN" sz="1000" b="1">
                <a:sym typeface="+mn-ea"/>
              </a:rPr>
              <a:t>: </a:t>
            </a:r>
            <a:r>
              <a:rPr lang="zh-CN" altLang="en-US" sz="1000">
                <a:sym typeface="+mn-ea"/>
              </a:rPr>
              <a:t>列表展示：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补充/消耗 (</a:t>
            </a:r>
            <a:r>
              <a:rPr lang="en-US" altLang="zh-CN" sz="1000">
                <a:sym typeface="+mn-ea"/>
              </a:rPr>
              <a:t>kg)、O2</a:t>
            </a:r>
            <a:r>
              <a:rPr lang="zh-CN" altLang="en-US" sz="1000">
                <a:sym typeface="+mn-ea"/>
              </a:rPr>
              <a:t>产出估算 (</a:t>
            </a:r>
            <a:r>
              <a:rPr lang="en-US" altLang="zh-CN" sz="1000">
                <a:sym typeface="+mn-ea"/>
              </a:rPr>
              <a:t>kg) </a:t>
            </a:r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核心 </a:t>
            </a:r>
            <a:r>
              <a:rPr lang="en-US" altLang="zh-CN" sz="1000" b="1">
                <a:sym typeface="+mn-ea"/>
              </a:rPr>
              <a:t>KPI </a:t>
            </a:r>
            <a:r>
              <a:rPr lang="zh-CN" altLang="en-US" sz="1000" b="1">
                <a:sym typeface="+mn-ea"/>
              </a:rPr>
              <a:t>数据卡片 (位于底部横排)：</a:t>
            </a:r>
            <a:r>
              <a:rPr lang="zh-CN" altLang="en-US" sz="1000">
                <a:sym typeface="+mn-ea"/>
              </a:rPr>
              <a:t>包含：单位产量能耗、固碳量、绿能替代率 (百分比)、人工成本降低、资源循环利用率 (例如 92%) 。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423545" y="392430"/>
            <a:ext cx="262255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页面</a:t>
            </a:r>
            <a:r>
              <a:rPr lang="en-US" altLang="zh-CN" sz="3200">
                <a:sym typeface="+mn-ea"/>
              </a:rPr>
              <a:t>3</a:t>
            </a:r>
            <a:r>
              <a:rPr lang="zh-CN" altLang="en-US" sz="3200">
                <a:sym typeface="+mn-ea"/>
              </a:rPr>
              <a:t>需求：</a:t>
            </a:r>
            <a:endParaRPr lang="zh-CN" altLang="en-US" sz="3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2539365"/>
            <a:ext cx="4445635" cy="4318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主体布局</a:t>
            </a:r>
            <a:endParaRPr lang="zh-CN" altLang="en-US" sz="1600" b="1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1：生产与订单管理</a:t>
            </a:r>
            <a:endParaRPr lang="zh-CN" altLang="en-US" sz="1000" b="1">
              <a:sym typeface="+mn-ea"/>
            </a:endParaRPr>
          </a:p>
          <a:p>
            <a:r>
              <a:rPr lang="zh-CN" altLang="en-US" sz="1000">
                <a:sym typeface="+mn-ea"/>
              </a:rPr>
              <a:t>分为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个子区域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展示的内容：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种植库位占比</a:t>
            </a:r>
            <a:r>
              <a:rPr lang="en-US" altLang="zh-CN" sz="1000">
                <a:sym typeface="+mn-ea"/>
              </a:rPr>
              <a:t>（</a:t>
            </a:r>
            <a:r>
              <a:rPr lang="zh-CN" altLang="en-US" sz="1000">
                <a:sym typeface="+mn-ea"/>
              </a:rPr>
              <a:t>例：</a:t>
            </a:r>
            <a:r>
              <a:rPr lang="en-US" altLang="zh-CN" sz="1000">
                <a:sym typeface="+mn-ea"/>
              </a:rPr>
              <a:t>6500</a:t>
            </a:r>
            <a:r>
              <a:rPr lang="zh-CN" altLang="en-US" sz="1000">
                <a:sym typeface="+mn-ea"/>
              </a:rPr>
              <a:t>个 / </a:t>
            </a:r>
            <a:r>
              <a:rPr lang="en-US" altLang="zh-CN" sz="1000">
                <a:sym typeface="+mn-ea"/>
              </a:rPr>
              <a:t>6720</a:t>
            </a:r>
            <a:r>
              <a:rPr lang="zh-CN" altLang="en-US" sz="1000">
                <a:sym typeface="+mn-ea"/>
              </a:rPr>
              <a:t>个）及库位占有率（例：</a:t>
            </a:r>
            <a:r>
              <a:rPr lang="en-US" altLang="zh-CN" sz="1000">
                <a:sym typeface="+mn-ea"/>
              </a:rPr>
              <a:t>96</a:t>
            </a:r>
            <a:r>
              <a:rPr lang="zh-CN" altLang="en-US" sz="1000">
                <a:sym typeface="+mn-ea"/>
              </a:rPr>
              <a:t>%）带有进度条 。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今日产量对比：</a:t>
            </a:r>
            <a:r>
              <a:rPr lang="zh-CN" altLang="en-US" sz="1000">
                <a:sym typeface="+mn-ea"/>
              </a:rPr>
              <a:t>展示“预计产量”、“实际产出量”、</a:t>
            </a:r>
            <a:r>
              <a:rPr lang="en-US" altLang="zh-CN" sz="1000">
                <a:sym typeface="+mn-ea"/>
              </a:rPr>
              <a:t>“</a:t>
            </a:r>
            <a:r>
              <a:rPr lang="zh-CN" altLang="en-US" sz="1000">
                <a:sym typeface="+mn-ea"/>
              </a:rPr>
              <a:t>产出批次</a:t>
            </a:r>
            <a:r>
              <a:rPr lang="en-US" altLang="zh-CN" sz="1000">
                <a:sym typeface="+mn-ea"/>
              </a:rPr>
              <a:t>”</a:t>
            </a:r>
            <a:r>
              <a:rPr lang="zh-CN" altLang="en-US" sz="1000">
                <a:sym typeface="+mn-ea"/>
              </a:rPr>
              <a:t>（如：</a:t>
            </a:r>
            <a:r>
              <a:rPr lang="zh-CN" altLang="en-US" sz="1000">
                <a:sym typeface="+mn-ea"/>
              </a:rPr>
              <a:t>预计产量</a:t>
            </a:r>
            <a:r>
              <a:rPr lang="zh-CN" altLang="en-US" sz="1000">
                <a:sym typeface="+mn-ea"/>
              </a:rPr>
              <a:t>160 </a:t>
            </a:r>
            <a:r>
              <a:rPr lang="en-US" altLang="zh-CN" sz="1000">
                <a:sym typeface="+mn-ea"/>
              </a:rPr>
              <a:t>kg</a:t>
            </a:r>
            <a:r>
              <a:rPr lang="zh-CN" altLang="en-US" sz="1000">
                <a:sym typeface="+mn-ea"/>
              </a:rPr>
              <a:t>、</a:t>
            </a:r>
            <a:r>
              <a:rPr lang="zh-CN" altLang="en-US" sz="1000">
                <a:sym typeface="+mn-ea"/>
              </a:rPr>
              <a:t>实际产量</a:t>
            </a:r>
            <a:r>
              <a:rPr lang="en-US" altLang="zh-CN" sz="1000">
                <a:sym typeface="+mn-ea"/>
              </a:rPr>
              <a:t>156 kg</a:t>
            </a:r>
            <a:r>
              <a:rPr lang="zh-CN" altLang="en-US" sz="1000">
                <a:sym typeface="+mn-ea"/>
              </a:rPr>
              <a:t>、产出批次</a:t>
            </a:r>
            <a:r>
              <a:rPr lang="en-US" altLang="zh-CN" sz="1000">
                <a:sym typeface="+mn-ea"/>
              </a:rPr>
              <a:t>12</a:t>
            </a:r>
            <a:r>
              <a:rPr lang="zh-CN" altLang="en-US" sz="1000">
                <a:sym typeface="+mn-ea"/>
              </a:rPr>
              <a:t>批</a:t>
            </a:r>
            <a:r>
              <a:rPr lang="en-US" altLang="zh-CN" sz="1000">
                <a:sym typeface="+mn-ea"/>
              </a:rPr>
              <a:t>）</a:t>
            </a:r>
            <a:r>
              <a:rPr lang="zh-CN" altLang="en-US" sz="1000">
                <a:sym typeface="+mn-ea"/>
              </a:rPr>
              <a:t>、</a:t>
            </a:r>
            <a:r>
              <a:rPr lang="zh-CN" altLang="en-US" sz="1000">
                <a:sym typeface="+mn-ea"/>
              </a:rPr>
              <a:t>环形图展示“合格率”（如 98.2%） 。</a:t>
            </a:r>
            <a:endParaRPr lang="zh-CN" altLang="en-US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排行榜组件：</a:t>
            </a:r>
            <a:r>
              <a:rPr lang="zh-CN" altLang="en-US" sz="1000">
                <a:sym typeface="+mn-ea"/>
              </a:rPr>
              <a:t>品种产出量 </a:t>
            </a:r>
            <a:r>
              <a:rPr lang="en-US" altLang="zh-CN" sz="1000">
                <a:sym typeface="+mn-ea"/>
              </a:rPr>
              <a:t>TOP10。</a:t>
            </a:r>
            <a:r>
              <a:rPr lang="zh-CN" altLang="en-US" sz="1000">
                <a:sym typeface="+mn-ea"/>
              </a:rPr>
              <a:t>建议使用 </a:t>
            </a:r>
            <a:r>
              <a:rPr lang="en-US" altLang="zh-CN" sz="1000">
                <a:sym typeface="+mn-ea"/>
              </a:rPr>
              <a:t>ECharts </a:t>
            </a:r>
            <a:r>
              <a:rPr lang="zh-CN" altLang="en-US" sz="1000">
                <a:sym typeface="+mn-ea"/>
              </a:rPr>
              <a:t>横向或纵向柱状图，需包含具体品种名称（奶油生菜、翠叶绿、羽衣甘蓝、小菠菜、薄荷、芽苗菜、乌塌菜、萝卜苗、西蓝花苗等）及对应数值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种植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设备运行效率统计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分为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个子区域（</a:t>
            </a:r>
            <a:r>
              <a:rPr lang="zh-CN" altLang="en-US" sz="1000" b="1">
                <a:sym typeface="+mn-ea"/>
              </a:rPr>
              <a:t>数据表格组件按</a:t>
            </a:r>
            <a:r>
              <a:rPr lang="zh-CN" altLang="en-US" sz="1000">
                <a:sym typeface="+mn-ea"/>
              </a:rPr>
              <a:t>垂直种植区</a:t>
            </a:r>
            <a:r>
              <a:rPr lang="en-US" altLang="zh-CN" sz="1000">
                <a:sym typeface="+mn-ea"/>
              </a:rPr>
              <a:t>/</a:t>
            </a:r>
            <a:r>
              <a:rPr lang="zh-CN" altLang="en-US" sz="1000">
                <a:sym typeface="+mn-ea"/>
              </a:rPr>
              <a:t>集装箱种植区等区域轮播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数据表格组件 (</a:t>
            </a:r>
            <a:r>
              <a:rPr lang="en-US" altLang="zh-CN" sz="1000" b="1">
                <a:sym typeface="+mn-ea"/>
              </a:rPr>
              <a:t>Data Table)：</a:t>
            </a:r>
            <a:endParaRPr lang="en-US" altLang="zh-CN" sz="1000" b="1">
              <a:sym typeface="+mn-ea"/>
            </a:endParaRPr>
          </a:p>
          <a:p>
            <a:r>
              <a:rPr lang="en-US" altLang="zh-CN" sz="1000">
                <a:sym typeface="+mn-ea"/>
              </a:rPr>
              <a:t>1.</a:t>
            </a:r>
            <a:r>
              <a:rPr lang="zh-CN" altLang="en-US" sz="1000">
                <a:sym typeface="+mn-ea"/>
              </a:rPr>
              <a:t>列定义：设备名称 (带小图标，如 </a:t>
            </a:r>
            <a:r>
              <a:rPr lang="en-US" altLang="zh-CN" sz="1000">
                <a:sym typeface="+mn-ea"/>
              </a:rPr>
              <a:t>AGV</a:t>
            </a:r>
            <a:r>
              <a:rPr lang="zh-CN" altLang="en-US" sz="1000">
                <a:sym typeface="+mn-ea"/>
              </a:rPr>
              <a:t>搬运车、加液机、配肥机、播种机、动力组)、运行次数 (次/天 或 筐/小时)、运行效率 (%)、故障时间、故障时长 。</a:t>
            </a:r>
            <a:endParaRPr lang="zh-CN" altLang="en-US" sz="1000">
              <a:sym typeface="+mn-ea"/>
            </a:endParaRPr>
          </a:p>
          <a:p>
            <a:r>
              <a:rPr lang="en-US" altLang="zh-CN" sz="1000">
                <a:sym typeface="+mn-ea"/>
              </a:rPr>
              <a:t>2.</a:t>
            </a:r>
            <a:r>
              <a:rPr lang="zh-CN" altLang="en-US" sz="1000">
                <a:sym typeface="+mn-ea"/>
              </a:rPr>
              <a:t>需支持状态颜色标记（如高效率显示为绿色，存在故障时长显示为预警色）。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545" y="1344930"/>
            <a:ext cx="3874770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页面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组件</a:t>
            </a:r>
            <a:endParaRPr lang="zh-CN" altLang="en-US" sz="1600" b="1">
              <a:sym typeface="+mn-ea"/>
            </a:endParaRPr>
          </a:p>
          <a:p>
            <a:r>
              <a:rPr lang="zh-CN" altLang="en-US" sz="1000">
                <a:sym typeface="+mn-ea"/>
              </a:rPr>
              <a:t>左侧：</a:t>
            </a:r>
            <a:r>
              <a:rPr lang="en-US" altLang="zh-CN" sz="1000">
                <a:sym typeface="+mn-ea"/>
              </a:rPr>
              <a:t>AFAFA  Logo</a:t>
            </a:r>
            <a:r>
              <a:rPr lang="en-US" sz="1000">
                <a:sym typeface="+mn-ea"/>
              </a:rPr>
              <a:t>(</a:t>
            </a:r>
            <a:r>
              <a:rPr lang="en-US" altLang="zh-CN" sz="1000">
                <a:sym typeface="+mn-ea"/>
              </a:rPr>
              <a:t>AFAFA_logo  svg</a:t>
            </a:r>
            <a:r>
              <a:rPr lang="zh-CN" altLang="en-US" sz="1000">
                <a:sym typeface="+mn-ea"/>
              </a:rPr>
              <a:t>文件</a:t>
            </a:r>
            <a:r>
              <a:rPr lang="en-US" sz="1000">
                <a:sym typeface="+mn-ea"/>
              </a:rPr>
              <a:t>)</a:t>
            </a:r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中侧：页面标题（</a:t>
            </a:r>
            <a:r>
              <a:rPr lang="zh-CN" altLang="en-US" sz="1000">
                <a:sym typeface="+mn-ea"/>
              </a:rPr>
              <a:t>青岛富士康植物工厂数据中心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右侧：实时时间显示（格式：</a:t>
            </a:r>
            <a:r>
              <a:rPr lang="en-US" altLang="zh-CN" sz="1000">
                <a:sym typeface="+mn-ea"/>
              </a:rPr>
              <a:t>YYYY-MM-DD HH:mm:ss </a:t>
            </a:r>
            <a:r>
              <a:rPr lang="zh-CN" altLang="en-US" sz="1000">
                <a:sym typeface="+mn-ea"/>
              </a:rPr>
              <a:t>星期</a:t>
            </a:r>
            <a:r>
              <a:rPr lang="en-US" altLang="zh-CN" sz="1000">
                <a:sym typeface="+mn-ea"/>
              </a:rPr>
              <a:t>X）</a:t>
            </a:r>
            <a:r>
              <a:rPr lang="zh-CN" altLang="en-US" sz="1000">
                <a:sym typeface="+mn-ea"/>
              </a:rPr>
              <a:t>及基地切换下拉菜单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0895" y="2996565"/>
            <a:ext cx="4445635" cy="3675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环境数据监控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分为三个子区域（垂直种植区 、育苗区 、催芽区 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三个子区域都需展示的字段图标及数值：温度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线上监控视频画面：</a:t>
            </a:r>
            <a:r>
              <a:rPr lang="zh-CN" altLang="en-US" sz="1000">
                <a:sym typeface="+mn-ea"/>
              </a:rPr>
              <a:t>2 个实景监控画面的轮播展示区域 。</a:t>
            </a:r>
            <a:endParaRPr lang="zh-CN" altLang="en-US" sz="1000"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4：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经济性指标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分为三个子区域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能耗细分：</a:t>
            </a:r>
            <a:r>
              <a:rPr lang="zh-CN" altLang="en-US" sz="1000">
                <a:sym typeface="+mn-ea"/>
              </a:rPr>
              <a:t>列表展示：补光电能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环控电能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总耗电量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营养液/水耗 (</a:t>
            </a:r>
            <a:r>
              <a:rPr lang="en-US" altLang="zh-CN" sz="1000">
                <a:sym typeface="+mn-ea"/>
              </a:rPr>
              <a:t>m³ ) 。</a:t>
            </a:r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气体代谢</a:t>
            </a:r>
            <a:r>
              <a:rPr lang="en-US" altLang="zh-CN" sz="1000" b="1">
                <a:sym typeface="+mn-ea"/>
              </a:rPr>
              <a:t>: </a:t>
            </a:r>
            <a:r>
              <a:rPr lang="zh-CN" altLang="en-US" sz="1000">
                <a:sym typeface="+mn-ea"/>
              </a:rPr>
              <a:t>列表展示：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补充/消耗 (</a:t>
            </a:r>
            <a:r>
              <a:rPr lang="en-US" altLang="zh-CN" sz="1000">
                <a:sym typeface="+mn-ea"/>
              </a:rPr>
              <a:t>kg)、O2</a:t>
            </a:r>
            <a:r>
              <a:rPr lang="zh-CN" altLang="en-US" sz="1000">
                <a:sym typeface="+mn-ea"/>
              </a:rPr>
              <a:t>产出估算 (</a:t>
            </a:r>
            <a:r>
              <a:rPr lang="en-US" altLang="zh-CN" sz="1000">
                <a:sym typeface="+mn-ea"/>
              </a:rPr>
              <a:t>kg) </a:t>
            </a:r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核心 </a:t>
            </a:r>
            <a:r>
              <a:rPr lang="en-US" altLang="zh-CN" sz="1000" b="1">
                <a:sym typeface="+mn-ea"/>
              </a:rPr>
              <a:t>KPI </a:t>
            </a:r>
            <a:r>
              <a:rPr lang="zh-CN" altLang="en-US" sz="1000" b="1">
                <a:sym typeface="+mn-ea"/>
              </a:rPr>
              <a:t>数据卡片 (位于底部横排)：</a:t>
            </a:r>
            <a:r>
              <a:rPr lang="zh-CN" altLang="en-US" sz="1000">
                <a:sym typeface="+mn-ea"/>
              </a:rPr>
              <a:t>包含：单位产量能耗、固碳量、绿能替代率 (百分比)、人工成本降低、资源循环利用率 (例如 92%) 。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423545" y="392430"/>
            <a:ext cx="262255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页面</a:t>
            </a:r>
            <a:r>
              <a:rPr lang="en-US" altLang="zh-CN" sz="3200">
                <a:sym typeface="+mn-ea"/>
              </a:rPr>
              <a:t>4</a:t>
            </a:r>
            <a:r>
              <a:rPr lang="zh-CN" altLang="en-US" sz="3200">
                <a:sym typeface="+mn-ea"/>
              </a:rPr>
              <a:t>需求：</a:t>
            </a:r>
            <a:endParaRPr lang="zh-CN" altLang="en-US" sz="3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2539365"/>
            <a:ext cx="4445635" cy="3857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主体布局</a:t>
            </a:r>
            <a:endParaRPr lang="zh-CN" altLang="en-US" sz="1600" b="1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1：订单排产与产量</a:t>
            </a:r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分为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个子区域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展示的内容：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计划盘数（250,000 盘数），实际盘数（238,000 盘数），在架率（百分比进度条） 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本月育秧数（例：48批） 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实时合格通过率：</a:t>
            </a:r>
            <a:r>
              <a:rPr lang="en-US" altLang="zh-CN" sz="1000">
                <a:sym typeface="+mn-ea"/>
              </a:rPr>
              <a:t>99.1%   </a:t>
            </a:r>
            <a:r>
              <a:rPr lang="zh-CN" altLang="en-US" sz="1000">
                <a:sym typeface="+mn-ea"/>
              </a:rPr>
              <a:t>（</a:t>
            </a:r>
            <a:r>
              <a:rPr lang="en-US" altLang="zh-CN" sz="1000">
                <a:sym typeface="+mn-ea"/>
              </a:rPr>
              <a:t> </a:t>
            </a:r>
            <a:r>
              <a:rPr lang="zh-CN" altLang="en-US" sz="1000">
                <a:sym typeface="+mn-ea"/>
              </a:rPr>
              <a:t>环形图展示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545" y="1344930"/>
            <a:ext cx="3874770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页面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组件</a:t>
            </a:r>
            <a:endParaRPr lang="zh-CN" altLang="en-US" sz="1600" b="1">
              <a:sym typeface="+mn-ea"/>
            </a:endParaRPr>
          </a:p>
          <a:p>
            <a:r>
              <a:rPr lang="zh-CN" altLang="en-US" sz="1000">
                <a:sym typeface="+mn-ea"/>
              </a:rPr>
              <a:t>左侧：</a:t>
            </a:r>
            <a:r>
              <a:rPr lang="en-US" altLang="zh-CN" sz="1000">
                <a:sym typeface="+mn-ea"/>
              </a:rPr>
              <a:t>AFAFA  Logo</a:t>
            </a:r>
            <a:r>
              <a:rPr lang="en-US" sz="1000">
                <a:sym typeface="+mn-ea"/>
              </a:rPr>
              <a:t>(</a:t>
            </a:r>
            <a:r>
              <a:rPr lang="en-US" altLang="zh-CN" sz="1000">
                <a:sym typeface="+mn-ea"/>
              </a:rPr>
              <a:t>AFAFA_logo  svg</a:t>
            </a:r>
            <a:r>
              <a:rPr lang="zh-CN" altLang="en-US" sz="1000">
                <a:sym typeface="+mn-ea"/>
              </a:rPr>
              <a:t>文件</a:t>
            </a:r>
            <a:r>
              <a:rPr lang="en-US" sz="1000">
                <a:sym typeface="+mn-ea"/>
              </a:rPr>
              <a:t>)</a:t>
            </a:r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中侧：页面标题（</a:t>
            </a:r>
            <a:r>
              <a:rPr lang="zh-CN" altLang="en-US" sz="1000">
                <a:sym typeface="+mn-ea"/>
              </a:rPr>
              <a:t>黑龙江北大荒育秧中心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右侧：实时时间显示（格式：</a:t>
            </a:r>
            <a:r>
              <a:rPr lang="en-US" altLang="zh-CN" sz="1000">
                <a:sym typeface="+mn-ea"/>
              </a:rPr>
              <a:t>YYYY-MM-DD HH:mm:ss </a:t>
            </a:r>
            <a:r>
              <a:rPr lang="zh-CN" altLang="en-US" sz="1000">
                <a:sym typeface="+mn-ea"/>
              </a:rPr>
              <a:t>星期</a:t>
            </a:r>
            <a:r>
              <a:rPr lang="en-US" altLang="zh-CN" sz="1000">
                <a:sym typeface="+mn-ea"/>
              </a:rPr>
              <a:t>X）</a:t>
            </a:r>
            <a:r>
              <a:rPr lang="zh-CN" altLang="en-US" sz="1000">
                <a:sym typeface="+mn-ea"/>
              </a:rPr>
              <a:t>及基地切换下拉菜单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0895" y="2182495"/>
            <a:ext cx="4445635" cy="289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环境数据监控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分为两个子区域（种植区 、育苗区 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种植区</a:t>
            </a:r>
            <a:r>
              <a:rPr lang="zh-CN" altLang="en-US" sz="1000">
                <a:sym typeface="+mn-ea"/>
              </a:rPr>
              <a:t>需展示的字段图标及数值：温度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育苗区需展示的字段图标及数值：温度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线上监控视频画面：</a:t>
            </a:r>
            <a:r>
              <a:rPr lang="zh-CN" altLang="en-US" sz="1000">
                <a:sym typeface="+mn-ea"/>
              </a:rPr>
              <a:t>2 个实景监控画面的轮播展示区域 。</a:t>
            </a:r>
            <a:endParaRPr lang="zh-CN" altLang="en-US" sz="1000"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4：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经济性指标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以数据卡片展示：补光电能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环控电能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总耗电量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营养液/水耗 (</a:t>
            </a:r>
            <a:r>
              <a:rPr lang="en-US" altLang="zh-CN" sz="1000">
                <a:sym typeface="+mn-ea"/>
              </a:rPr>
              <a:t>m³ ) </a:t>
            </a:r>
            <a:r>
              <a:rPr lang="zh-CN" altLang="en-US" sz="1000">
                <a:sym typeface="+mn-ea"/>
              </a:rPr>
              <a:t>、单位产量能耗（</a:t>
            </a:r>
            <a:r>
              <a:rPr lang="en-US" altLang="zh-CN" sz="1000">
                <a:sym typeface="+mn-ea"/>
              </a:rPr>
              <a:t>kg/kWh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423545" y="392430"/>
            <a:ext cx="2622550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ym typeface="+mn-ea"/>
              </a:rPr>
              <a:t>页面</a:t>
            </a:r>
            <a:r>
              <a:rPr lang="en-US" altLang="zh-CN" sz="3200">
                <a:sym typeface="+mn-ea"/>
              </a:rPr>
              <a:t>5</a:t>
            </a:r>
            <a:r>
              <a:rPr lang="zh-CN" altLang="en-US" sz="3200">
                <a:sym typeface="+mn-ea"/>
              </a:rPr>
              <a:t>需求：</a:t>
            </a:r>
            <a:endParaRPr lang="zh-CN" altLang="en-US" sz="3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2539365"/>
            <a:ext cx="4445635" cy="3857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主体布局</a:t>
            </a:r>
            <a:endParaRPr lang="zh-CN" altLang="en-US" sz="1600" b="1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1：订单排产与产量</a:t>
            </a:r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分为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个子区域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展示的内容：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计划盘数（250,000 盘数），实际盘数（238,000 盘数），在架率（百分比进度条） 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本月红薯产出数</a:t>
            </a:r>
            <a:r>
              <a:rPr lang="zh-CN" altLang="en-US" sz="1000">
                <a:sym typeface="+mn-ea"/>
              </a:rPr>
              <a:t>（例：48批） 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实时合格通过率：</a:t>
            </a:r>
            <a:r>
              <a:rPr lang="en-US" altLang="zh-CN" sz="1000">
                <a:sym typeface="+mn-ea"/>
              </a:rPr>
              <a:t>99.1%   </a:t>
            </a:r>
            <a:r>
              <a:rPr lang="zh-CN" altLang="en-US" sz="1000">
                <a:sym typeface="+mn-ea"/>
              </a:rPr>
              <a:t>（</a:t>
            </a:r>
            <a:r>
              <a:rPr lang="en-US" altLang="zh-CN" sz="1000">
                <a:sym typeface="+mn-ea"/>
              </a:rPr>
              <a:t> </a:t>
            </a:r>
            <a:r>
              <a:rPr lang="zh-CN" altLang="en-US" sz="1000">
                <a:sym typeface="+mn-ea"/>
              </a:rPr>
              <a:t>环形图展示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3545" y="1344930"/>
            <a:ext cx="3874770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ym typeface="+mn-ea"/>
              </a:rPr>
              <a:t>页面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组件</a:t>
            </a:r>
            <a:endParaRPr lang="zh-CN" altLang="en-US" sz="1600" b="1">
              <a:sym typeface="+mn-ea"/>
            </a:endParaRPr>
          </a:p>
          <a:p>
            <a:r>
              <a:rPr lang="zh-CN" altLang="en-US" sz="1000">
                <a:sym typeface="+mn-ea"/>
              </a:rPr>
              <a:t>左侧：</a:t>
            </a:r>
            <a:r>
              <a:rPr lang="en-US" altLang="zh-CN" sz="1000">
                <a:sym typeface="+mn-ea"/>
              </a:rPr>
              <a:t>AFAFA  Logo</a:t>
            </a:r>
            <a:r>
              <a:rPr lang="en-US" sz="1000">
                <a:sym typeface="+mn-ea"/>
              </a:rPr>
              <a:t>(</a:t>
            </a:r>
            <a:r>
              <a:rPr lang="en-US" altLang="zh-CN" sz="1000">
                <a:sym typeface="+mn-ea"/>
              </a:rPr>
              <a:t>AFAFA_logo  svg</a:t>
            </a:r>
            <a:r>
              <a:rPr lang="zh-CN" altLang="en-US" sz="1000">
                <a:sym typeface="+mn-ea"/>
              </a:rPr>
              <a:t>文件</a:t>
            </a:r>
            <a:r>
              <a:rPr lang="en-US" sz="1000">
                <a:sym typeface="+mn-ea"/>
              </a:rPr>
              <a:t>)</a:t>
            </a:r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中侧：页面标题（</a:t>
            </a:r>
            <a:r>
              <a:rPr lang="zh-CN" altLang="en-US" sz="1000">
                <a:sym typeface="+mn-ea"/>
              </a:rPr>
              <a:t>陕西崔家湾红薯实验中心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右侧：实时时间显示（格式：</a:t>
            </a:r>
            <a:r>
              <a:rPr lang="en-US" altLang="zh-CN" sz="1000">
                <a:sym typeface="+mn-ea"/>
              </a:rPr>
              <a:t>YYYY-MM-DD HH:mm:ss </a:t>
            </a:r>
            <a:r>
              <a:rPr lang="zh-CN" altLang="en-US" sz="1000">
                <a:sym typeface="+mn-ea"/>
              </a:rPr>
              <a:t>星期</a:t>
            </a:r>
            <a:r>
              <a:rPr lang="en-US" altLang="zh-CN" sz="1000">
                <a:sym typeface="+mn-ea"/>
              </a:rPr>
              <a:t>X）</a:t>
            </a:r>
            <a:r>
              <a:rPr lang="zh-CN" altLang="en-US" sz="1000">
                <a:sym typeface="+mn-ea"/>
              </a:rPr>
              <a:t>及基地切换下拉菜单 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0895" y="2182495"/>
            <a:ext cx="4445635" cy="289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环境数据监控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分为两个子区域（种植区 、育苗区 ）。</a:t>
            </a:r>
            <a:endParaRPr lang="zh-CN" altLang="en-US" sz="1000">
              <a:sym typeface="+mn-ea"/>
            </a:endParaRPr>
          </a:p>
          <a:p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种植区</a:t>
            </a:r>
            <a:r>
              <a:rPr lang="zh-CN" altLang="en-US" sz="1000">
                <a:sym typeface="+mn-ea"/>
              </a:rPr>
              <a:t>需展示的字段图标及数值：温度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zh-CN" altLang="en-US" sz="1000">
                <a:sym typeface="+mn-ea"/>
              </a:rPr>
              <a:t>育苗区需展示的字段图标及数值：</a:t>
            </a:r>
            <a:r>
              <a:rPr lang="zh-CN" altLang="en-US" sz="1000">
                <a:sym typeface="+mn-ea"/>
              </a:rPr>
              <a:t>温度 (℃)、湿度 (%)、</a:t>
            </a:r>
            <a:r>
              <a:rPr lang="en-US" altLang="zh-CN" sz="1000">
                <a:sym typeface="+mn-ea"/>
              </a:rPr>
              <a:t>CO2</a:t>
            </a:r>
            <a:r>
              <a:rPr lang="zh-CN" altLang="en-US" sz="1000">
                <a:sym typeface="+mn-ea"/>
              </a:rPr>
              <a:t>浓度 (</a:t>
            </a:r>
            <a:r>
              <a:rPr lang="en-US" altLang="zh-CN" sz="1000">
                <a:sym typeface="+mn-ea"/>
              </a:rPr>
              <a:t>ppm) 、</a:t>
            </a:r>
            <a:r>
              <a:rPr lang="zh-CN" altLang="en-US" sz="1000">
                <a:sym typeface="+mn-ea"/>
              </a:rPr>
              <a:t>光照强度</a:t>
            </a:r>
            <a:r>
              <a:rPr lang="en-US" altLang="zh-CN" sz="1000">
                <a:sym typeface="+mn-ea"/>
              </a:rPr>
              <a:t> (</a:t>
            </a:r>
            <a:r>
              <a:rPr lang="zh-CN" altLang="en-US" sz="1000">
                <a:sym typeface="+mn-ea"/>
              </a:rPr>
              <a:t> </a:t>
            </a:r>
            <a:r>
              <a:rPr lang="en-US" altLang="zh-CN" sz="1000">
                <a:sym typeface="+mn-ea"/>
              </a:rPr>
              <a:t>μmol/m²/s) 。</a:t>
            </a:r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endParaRPr lang="en-US" altLang="zh-CN" sz="1000">
              <a:sym typeface="+mn-ea"/>
            </a:endParaRPr>
          </a:p>
          <a:p>
            <a:r>
              <a:rPr lang="en-US" altLang="zh-CN" sz="1000" b="1">
                <a:sym typeface="+mn-ea"/>
              </a:rPr>
              <a:t>*</a:t>
            </a:r>
            <a:r>
              <a:rPr lang="zh-CN" altLang="en-US" sz="1000" b="1">
                <a:sym typeface="+mn-ea"/>
              </a:rPr>
              <a:t>线上监控视频画面：</a:t>
            </a:r>
            <a:r>
              <a:rPr lang="zh-CN" altLang="en-US" sz="1000">
                <a:sym typeface="+mn-ea"/>
              </a:rPr>
              <a:t>2 个实景监控画面的轮播展示区域 。</a:t>
            </a:r>
            <a:endParaRPr lang="zh-CN" altLang="en-US" sz="1000"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endParaRPr lang="zh-CN" altLang="en-US" sz="1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 b="1">
                <a:solidFill>
                  <a:srgbClr val="FF0000"/>
                </a:solidFill>
                <a:sym typeface="+mn-ea"/>
              </a:rPr>
              <a:t>模块 4：</a:t>
            </a:r>
            <a:r>
              <a:rPr lang="zh-CN" altLang="en-US" sz="1000">
                <a:solidFill>
                  <a:srgbClr val="FF0000"/>
                </a:solidFill>
                <a:sym typeface="+mn-ea"/>
              </a:rPr>
              <a:t>经济性指标</a:t>
            </a:r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zh-CN" altLang="en-US" sz="1000">
                <a:sym typeface="+mn-ea"/>
              </a:rPr>
              <a:t>以数据卡片展示：补光电能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环控电能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总耗电量 (</a:t>
            </a:r>
            <a:r>
              <a:rPr lang="en-US" altLang="zh-CN" sz="1000">
                <a:sym typeface="+mn-ea"/>
              </a:rPr>
              <a:t>kWh)、</a:t>
            </a:r>
            <a:r>
              <a:rPr lang="zh-CN" altLang="en-US" sz="1000">
                <a:sym typeface="+mn-ea"/>
              </a:rPr>
              <a:t>营养液/水耗 (</a:t>
            </a:r>
            <a:r>
              <a:rPr lang="en-US" altLang="zh-CN" sz="1000">
                <a:sym typeface="+mn-ea"/>
              </a:rPr>
              <a:t>m³ ) </a:t>
            </a:r>
            <a:r>
              <a:rPr lang="zh-CN" altLang="en-US" sz="1000">
                <a:sym typeface="+mn-ea"/>
              </a:rPr>
              <a:t>、单位产量能耗（</a:t>
            </a:r>
            <a:r>
              <a:rPr lang="en-US" altLang="zh-CN" sz="1000">
                <a:sym typeface="+mn-ea"/>
              </a:rPr>
              <a:t>kg/kWh</a:t>
            </a:r>
            <a:r>
              <a:rPr lang="zh-CN" altLang="en-US" sz="1000">
                <a:sym typeface="+mn-ea"/>
              </a:rPr>
              <a:t>）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4233</Words>
  <Application>WPS 演示</Application>
  <PresentationFormat>宽屏</PresentationFormat>
  <Paragraphs>196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姚</cp:lastModifiedBy>
  <cp:revision>158</cp:revision>
  <dcterms:created xsi:type="dcterms:W3CDTF">2019-06-19T02:08:00Z</dcterms:created>
  <dcterms:modified xsi:type="dcterms:W3CDTF">2026-04-23T07:05:49Z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D8068E26344541F3BB0473E9ABA02473_11</vt:lpwstr>
  </property>
</Properties>
</file>